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jpeg" ContentType="image/jpeg"/>
  <Override PartName="/ppt/media/image4.png" ContentType="image/png"/>
  <Override PartName="/ppt/media/image5.png" ContentType="image/png"/>
  <Override PartName="/ppt/media/image7.png" ContentType="image/png"/>
  <Override PartName="/ppt/media/image8.gif" ContentType="image/gif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1E4EB0-D355-4843-B05B-79881C3657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3917E01-213F-4029-BBF9-75F724908C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F94D1D9-9332-4D53-94CF-F58017325D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FA36522-065F-4483-859D-02C7D35759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FA58A21-5C20-4178-98B5-82C299ED0A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7980F2D-89FD-48C4-8D17-D8322AEDFE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F0AC997-2E05-45ED-93B2-296588095C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AA2C623-B8CD-4E3E-82F3-0B6AD86FDC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E4A1061-EA14-481F-9A89-C1A0ABF90A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E5D1C6B3-BB9E-4767-ACEC-74843D6990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608FC1DB-501C-4A76-90FD-E368CF874D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AD5330-8DD8-4E82-9B64-587D301E5240}" type="slidenum">
              <a: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F846B5-A871-44DF-89C8-B7140DF166D0}" type="slidenum">
              <a: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9A79A8-1967-4C3E-BAD9-DA97B488101E}" type="slidenum">
              <a: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B3645D-AC5D-4490-ACE4-7204AB74D68E}" type="slidenum">
              <a: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0CAF02-9837-49D5-BF51-525D7741817D}" type="slidenum">
              <a: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62773F-96E2-4DAE-940C-75CB4DE4A68D}" type="slidenum">
              <a: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10C39A-0441-4F09-9170-845A6BDAF287}" type="slidenum">
              <a: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E4E89D-9C91-47FB-BCBB-0B0544F10C40}" type="slidenum">
              <a: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6214BE-BE7A-4620-B017-2CCCBA354019}" type="slidenum">
              <a: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898884E-368E-4D62-ACB2-ED3A2C3CEE17}" type="slidenum">
              <a: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137E5B-7BA8-47B4-B948-5C9B98CEA865}" type="slidenum">
              <a:rPr b="0" lang="tr-T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gif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63120" y="2252160"/>
            <a:ext cx="9054360" cy="100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tr-TR" sz="28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Bookman Old Style"/>
              </a:rPr>
              <a:t>Tez Konusu: Yazılım Tanımlı Ağ(SDN) Tabanlı Aktif Savunma Ve Tehdit Önleme Sistemi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3082680" y="3661560"/>
            <a:ext cx="5256000" cy="93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Bookman Old Style"/>
              </a:rPr>
              <a:t>Hazırlayanlar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Bookman Old Style"/>
              </a:rPr>
              <a:t>Metin Aydın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Bookman Old Style"/>
              </a:rPr>
              <a:t>Ozan Malcı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Resim 5" descr=""/>
          <p:cNvPicPr/>
          <p:nvPr/>
        </p:nvPicPr>
        <p:blipFill>
          <a:blip r:embed="rId1"/>
          <a:stretch/>
        </p:blipFill>
        <p:spPr>
          <a:xfrm>
            <a:off x="9119880" y="332640"/>
            <a:ext cx="2736000" cy="990000"/>
          </a:xfrm>
          <a:prstGeom prst="rect">
            <a:avLst/>
          </a:prstGeom>
          <a:ln w="0">
            <a:noFill/>
          </a:ln>
        </p:spPr>
      </p:pic>
      <p:pic>
        <p:nvPicPr>
          <p:cNvPr id="52" name="Resim 7" descr=""/>
          <p:cNvPicPr/>
          <p:nvPr/>
        </p:nvPicPr>
        <p:blipFill>
          <a:blip r:embed="rId2"/>
          <a:stretch/>
        </p:blipFill>
        <p:spPr>
          <a:xfrm>
            <a:off x="0" y="5719680"/>
            <a:ext cx="12180600" cy="345240"/>
          </a:xfrm>
          <a:prstGeom prst="rect">
            <a:avLst/>
          </a:prstGeom>
          <a:ln w="0">
            <a:noFill/>
          </a:ln>
        </p:spPr>
      </p:pic>
      <p:grpSp>
        <p:nvGrpSpPr>
          <p:cNvPr id="53" name="Grup 3"/>
          <p:cNvGrpSpPr/>
          <p:nvPr/>
        </p:nvGrpSpPr>
        <p:grpSpPr>
          <a:xfrm>
            <a:off x="0" y="6145200"/>
            <a:ext cx="12191400" cy="586440"/>
            <a:chOff x="0" y="6145200"/>
            <a:chExt cx="12191400" cy="586440"/>
          </a:xfrm>
        </p:grpSpPr>
        <p:pic>
          <p:nvPicPr>
            <p:cNvPr id="54" name="Resim 4" descr=""/>
            <p:cNvPicPr/>
            <p:nvPr/>
          </p:nvPicPr>
          <p:blipFill>
            <a:blip r:embed="rId3"/>
            <a:stretch/>
          </p:blipFill>
          <p:spPr>
            <a:xfrm>
              <a:off x="0" y="6145200"/>
              <a:ext cx="12191400" cy="182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55" name="Alt Başlık 2"/>
            <p:cNvSpPr/>
            <p:nvPr/>
          </p:nvSpPr>
          <p:spPr>
            <a:xfrm>
              <a:off x="8784000" y="6381360"/>
              <a:ext cx="3396600" cy="350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914400">
                <a:lnSpc>
                  <a:spcPct val="100000"/>
                </a:lnSpc>
                <a:spcBef>
                  <a:spcPts val="360"/>
                </a:spcBef>
              </a:pPr>
              <a:r>
                <a:rPr b="0" lang="tr-TR" sz="1800" spc="-1" strike="noStrike">
                  <a:solidFill>
                    <a:srgbClr val="898989"/>
                  </a:solidFill>
                  <a:latin typeface="Calibri"/>
                </a:rPr>
                <a:t>www.sakarya.edu.tr</a:t>
              </a: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56" name="İçerik Yer Tutucusu 10" descr=""/>
          <p:cNvPicPr/>
          <p:nvPr/>
        </p:nvPicPr>
        <p:blipFill>
          <a:blip r:embed="rId4"/>
          <a:stretch/>
        </p:blipFill>
        <p:spPr>
          <a:xfrm>
            <a:off x="47160" y="6356520"/>
            <a:ext cx="2010600" cy="462960"/>
          </a:xfrm>
          <a:prstGeom prst="rect">
            <a:avLst/>
          </a:prstGeom>
          <a:ln w="0">
            <a:noFill/>
          </a:ln>
        </p:spPr>
      </p:pic>
      <p:sp>
        <p:nvSpPr>
          <p:cNvPr id="57" name="Başlık 1"/>
          <p:cNvSpPr/>
          <p:nvPr/>
        </p:nvSpPr>
        <p:spPr>
          <a:xfrm>
            <a:off x="1242360" y="1584000"/>
            <a:ext cx="9945000" cy="100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tr-TR" sz="40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Bookman Old Style"/>
              </a:rPr>
              <a:t>BSM 498-Bitirme Çalışması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Alt Başlık 2"/>
          <p:cNvSpPr/>
          <p:nvPr/>
        </p:nvSpPr>
        <p:spPr>
          <a:xfrm>
            <a:off x="3082680" y="5266080"/>
            <a:ext cx="5256000" cy="54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tr-T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Bookman Old Style"/>
              </a:rPr>
              <a:t>Danışman: </a:t>
            </a:r>
            <a:r>
              <a:rPr b="0" lang="tr-T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Bookman Old Style"/>
              </a:rPr>
              <a:t>Dr. Öğr. Üyesi Musa Balta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42760" y="416520"/>
            <a:ext cx="10514880" cy="66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tr-TR" sz="3000" spc="-1" strike="noStrike">
                <a:solidFill>
                  <a:schemeClr val="dk1"/>
                </a:solidFill>
                <a:latin typeface="Calibri"/>
              </a:rPr>
              <a:t>Problem Tanımı ve Motivasyon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3760" y="1287360"/>
            <a:ext cx="10514880" cy="522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Geleneksel güvenlik mimarisi; Firewall, IDS/IPS gibi fiziksel cihazlara dayalı statik bir yapıdır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İç ağ trafiğinde (East-West) kör noktalar oluşur, bir katmanı geçen saldırgan serbestçe yanal hareket (lateral movement) yapabilir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Tehditlere müdahale CLI üzerinden manuel ACL yazılmasını gerektirir, sistem yavaş ve reaktif kalır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Dijital dönüşüm ve uç bilişimle birlikte saldırı yüzeyi genişlerken bu mimari yetersizlikler kritik hale gelmiştir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Resim 4" descr=""/>
          <p:cNvPicPr/>
          <p:nvPr/>
        </p:nvPicPr>
        <p:blipFill>
          <a:blip r:embed="rId1"/>
          <a:stretch/>
        </p:blipFill>
        <p:spPr>
          <a:xfrm>
            <a:off x="-9000" y="6356520"/>
            <a:ext cx="12200400" cy="2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6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4444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tr-TR" sz="4400" spc="-1" strike="noStrike">
                <a:solidFill>
                  <a:schemeClr val="dk1"/>
                </a:solidFill>
                <a:latin typeface="Calibri Light"/>
              </a:rPr>
              <a:t>Tez İçerik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3760" y="1078200"/>
            <a:ext cx="10514880" cy="522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Calibri"/>
              </a:rPr>
              <a:t>Motivasyon ve Problemin Tanımı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Calibri"/>
              </a:rPr>
              <a:t>Neden Yazılım Tanımlı Ağlar (SDN)?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Calibri"/>
              </a:rPr>
              <a:t>Sistem Mimarisi ve Kullanılan Teknolojiler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Calibri"/>
              </a:rPr>
              <a:t>Kurumsal Ağ Topolojisi ve Servis Zinciri (Service Chaining)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Calibri"/>
              </a:rPr>
              <a:t>Otonom Tehdit Algılama ve Aktif Savunma (Honeypot)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Calibri"/>
              </a:rPr>
              <a:t>Test Senaryoları, Performans ve Bulgular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Calibri"/>
              </a:rPr>
              <a:t>Mühendislik Standartları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Calibri"/>
              </a:rPr>
              <a:t>Elde Edilen Kazanımlar Ve Sonuç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indent="0" algn="just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Resim 4" descr=""/>
          <p:cNvPicPr/>
          <p:nvPr/>
        </p:nvPicPr>
        <p:blipFill>
          <a:blip r:embed="rId1"/>
          <a:stretch/>
        </p:blipFill>
        <p:spPr>
          <a:xfrm>
            <a:off x="-9000" y="6356520"/>
            <a:ext cx="12200400" cy="2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42760" y="416520"/>
            <a:ext cx="10514880" cy="66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tr-TR" sz="3000" spc="-1" strike="noStrike">
                <a:solidFill>
                  <a:schemeClr val="dk1"/>
                </a:solidFill>
                <a:latin typeface="Calibri"/>
              </a:rPr>
              <a:t>Neden Yazılım Tanımlı Ağlar (SDN)?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833760" y="1287360"/>
            <a:ext cx="10514880" cy="522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Kontrol/Veri Düzlemi Ayrımı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Tüm ağ kararları merkezi bir yazılıma taşınır, donanım bağımlılığı ortadan kalkar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Küresel Görünürlük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:Kontrolcü uçtan uca tüm topolojiyi anlık izler, kör nokta kalmaz 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Dinamik Müdahale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OpenFlow üzerinden herhangi bir anahtara milisaniyeler içinde yeni akış kuralı (FlowMod) gönderilebilir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Yazılım Tanımlı Politika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Güvenlik kuralları donanımda değil kodda tanımlanır, değiştirmek için CLI gerekmez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Resim 4" descr=""/>
          <p:cNvPicPr/>
          <p:nvPr/>
        </p:nvPicPr>
        <p:blipFill>
          <a:blip r:embed="rId1"/>
          <a:stretch/>
        </p:blipFill>
        <p:spPr>
          <a:xfrm>
            <a:off x="-9000" y="6356520"/>
            <a:ext cx="12200400" cy="2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42760" y="416520"/>
            <a:ext cx="10514880" cy="66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tr-TR" sz="3000" spc="-1" strike="noStrike">
                <a:solidFill>
                  <a:schemeClr val="dk1"/>
                </a:solidFill>
                <a:latin typeface="Calibri"/>
              </a:rPr>
              <a:t>Sistem Mimarisi ve Kullanılan Teknolojiler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3760" y="1287360"/>
            <a:ext cx="10514880" cy="522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Mininet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Gerçek Linux ağ yığınını kullanan hafif emülasyon ortamı, fiziksel donanım gerekmez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Ryu Framework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Python tabanlı, olay güdümlü SDN kontrolcüsü, tehdit tespitine karşılık akış kurallarını üretip anahtarlara gönderir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Open vSwitch (OVS)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OpenFlow 1.3 destekli yazılım anahtarı, akış kuralları donanım hızında uygulanır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Suricata IDS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Çok iş parçacıklı, derin paket incelemesi (DPI) ve imza eşleştirmesiyle tehditleri tespit eder; trafiğe pasif olarak bağlıdır, kesmez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Resim 4" descr=""/>
          <p:cNvPicPr/>
          <p:nvPr/>
        </p:nvPicPr>
        <p:blipFill>
          <a:blip r:embed="rId1"/>
          <a:stretch/>
        </p:blipFill>
        <p:spPr>
          <a:xfrm>
            <a:off x="-9000" y="6356520"/>
            <a:ext cx="12200400" cy="2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42760" y="416520"/>
            <a:ext cx="10514880" cy="66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tr-TR" sz="3000" spc="-1" strike="noStrike">
                <a:solidFill>
                  <a:schemeClr val="dk1"/>
                </a:solidFill>
                <a:latin typeface="Calibri"/>
              </a:rPr>
              <a:t>Kurumsal Ağ Topolojisi ve Servis Zinciri (Service Chaining)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3760" y="1287360"/>
            <a:ext cx="10514880" cy="522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1500" spc="-1" strike="noStrike">
                <a:solidFill>
                  <a:schemeClr val="dk1"/>
                </a:solidFill>
                <a:latin typeface="Calibri"/>
              </a:rPr>
              <a:t>Gerçekçi WAN Modeli</a:t>
            </a:r>
            <a:r>
              <a:rPr b="0" lang="tr-TR" sz="1500" spc="-1" strike="noStrike">
                <a:solidFill>
                  <a:schemeClr val="dk1"/>
                </a:solidFill>
                <a:latin typeface="Calibri"/>
              </a:rPr>
              <a:t>: Şube, merkez, ISP, veri merkezi ve güvenlik zinciri segmentlerinden oluşan kurumsal topoloji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1500" spc="-1" strike="noStrike">
                <a:solidFill>
                  <a:schemeClr val="dk1"/>
                </a:solidFill>
                <a:latin typeface="Calibri"/>
              </a:rPr>
              <a:t>Servis Zinciri (Service Chaining)</a:t>
            </a:r>
            <a:r>
              <a:rPr b="0" lang="tr-TR" sz="1500" spc="-1" strike="noStrike">
                <a:solidFill>
                  <a:schemeClr val="dk1"/>
                </a:solidFill>
                <a:latin typeface="Calibri"/>
              </a:rPr>
              <a:t>: Internet trafiği sırasıyla Dış Güvenlik Duvarı -&gt; IPS -&gt; WAF katmanlarından geçerek veri merkezine ulaşır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1500" spc="-1" strike="noStrike">
                <a:solidFill>
                  <a:schemeClr val="dk1"/>
                </a:solidFill>
                <a:latin typeface="Calibri"/>
              </a:rPr>
              <a:t>VLAN Segmentasyonu</a:t>
            </a:r>
            <a:r>
              <a:rPr b="0" lang="tr-TR" sz="1500" spc="-1" strike="noStrike">
                <a:solidFill>
                  <a:schemeClr val="dk1"/>
                </a:solidFill>
                <a:latin typeface="Calibri"/>
              </a:rPr>
              <a:t>: İnternet, şube ve merkez trafiği ayrı VLAN bölgelerinde izole edilir, omurga anahtarı üzerinde uygulanır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1500" spc="-1" strike="noStrike">
                <a:solidFill>
                  <a:schemeClr val="dk1"/>
                </a:solidFill>
                <a:latin typeface="Calibri"/>
              </a:rPr>
              <a:t>Yedekli WAN</a:t>
            </a:r>
            <a:r>
              <a:rPr b="0" lang="tr-TR" sz="1500" spc="-1" strike="noStrike">
                <a:solidFill>
                  <a:schemeClr val="dk1"/>
                </a:solidFill>
                <a:latin typeface="Calibri"/>
              </a:rPr>
              <a:t>: Ana hat (MPLS) kesildiğinde trafik seans kaybı yaşatmadan hücresel yedek hatta (APN) otomatik aktarılır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Resim 4" descr=""/>
          <p:cNvPicPr/>
          <p:nvPr/>
        </p:nvPicPr>
        <p:blipFill>
          <a:blip r:embed="rId1"/>
          <a:stretch/>
        </p:blipFill>
        <p:spPr>
          <a:xfrm>
            <a:off x="-9000" y="6356520"/>
            <a:ext cx="12200400" cy="240120"/>
          </a:xfrm>
          <a:prstGeom prst="rect">
            <a:avLst/>
          </a:prstGeom>
          <a:ln w="0">
            <a:noFill/>
          </a:ln>
        </p:spPr>
      </p:pic>
      <p:pic>
        <p:nvPicPr>
          <p:cNvPr id="74" name="Resim 5" descr=""/>
          <p:cNvPicPr/>
          <p:nvPr/>
        </p:nvPicPr>
        <p:blipFill>
          <a:blip r:embed="rId2"/>
          <a:stretch/>
        </p:blipFill>
        <p:spPr>
          <a:xfrm>
            <a:off x="3620880" y="3429000"/>
            <a:ext cx="47268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42760" y="416520"/>
            <a:ext cx="10514880" cy="66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tr-TR" sz="3000" spc="-1" strike="noStrike">
                <a:solidFill>
                  <a:schemeClr val="dk1"/>
                </a:solidFill>
                <a:latin typeface="Calibri"/>
              </a:rPr>
              <a:t>Otonom Tehdit Algılama ve Aktif Savunma (Honeypot)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3760" y="1287360"/>
            <a:ext cx="10514880" cy="522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Honeypot Saptırması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Karalistedeki saldırgan sunucuya erişmeye çalıştığında trafik düşürülmez, kontrolcü hedef IP/MAC adreslerini anlık Honeypot'a yönlendirir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Reverse NAT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Honeypot'tan dönen cevap paketlerinin kaynak adresi gerçek sunucunun adresiyle maskelenir; TCP oturumu kopmaz, saldırgan fark etmez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Dinamik Akış Temizliği (Self-Healing)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Tehdit tespitinin ardından tüm anahtarlardaki ilgili akış kayıtları silinir, saldırganın öğrendiği tüm yollar kapatılır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Zaman Ayarlı İzolasyon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Engelleme 120 saniye sonra otomatik kaldırılır, saldırı devam ediyorsa yeniden tetiklenir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Adli Bilişim (Forensics)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Tüm tespitler saldırı türü ve zaman damgasıyla SQLite veritabanına kaydedilir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Resim 4" descr=""/>
          <p:cNvPicPr/>
          <p:nvPr/>
        </p:nvPicPr>
        <p:blipFill>
          <a:blip r:embed="rId1"/>
          <a:stretch/>
        </p:blipFill>
        <p:spPr>
          <a:xfrm>
            <a:off x="-9000" y="6356520"/>
            <a:ext cx="12200400" cy="2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42760" y="416520"/>
            <a:ext cx="10514880" cy="66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tr-TR" sz="3000" spc="-1" strike="noStrike">
                <a:solidFill>
                  <a:schemeClr val="dk1"/>
                </a:solidFill>
                <a:latin typeface="Calibri"/>
              </a:rPr>
              <a:t>Test Senaryoları Performans ve Bulgular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Resim 4" descr=""/>
          <p:cNvPicPr/>
          <p:nvPr/>
        </p:nvPicPr>
        <p:blipFill>
          <a:blip r:embed="rId1"/>
          <a:stretch/>
        </p:blipFill>
        <p:spPr>
          <a:xfrm>
            <a:off x="-9000" y="6356520"/>
            <a:ext cx="12200400" cy="240120"/>
          </a:xfrm>
          <a:prstGeom prst="rect">
            <a:avLst/>
          </a:prstGeom>
          <a:ln w="0">
            <a:noFill/>
          </a:ln>
        </p:spPr>
      </p:pic>
      <p:pic>
        <p:nvPicPr>
          <p:cNvPr id="80" name="İçerik Yer Tutucusu 4" descr=""/>
          <p:cNvPicPr/>
          <p:nvPr/>
        </p:nvPicPr>
        <p:blipFill>
          <a:blip r:embed="rId2"/>
          <a:stretch/>
        </p:blipFill>
        <p:spPr>
          <a:xfrm>
            <a:off x="371160" y="1423080"/>
            <a:ext cx="4787280" cy="2117880"/>
          </a:xfrm>
          <a:prstGeom prst="rect">
            <a:avLst/>
          </a:prstGeom>
          <a:ln w="0">
            <a:noFill/>
          </a:ln>
        </p:spPr>
      </p:pic>
      <p:sp>
        <p:nvSpPr>
          <p:cNvPr id="81" name="Metin kutusu 6"/>
          <p:cNvSpPr/>
          <p:nvPr/>
        </p:nvSpPr>
        <p:spPr>
          <a:xfrm>
            <a:off x="252360" y="3818160"/>
            <a:ext cx="49060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  <a:spcAft>
                <a:spcPts val="1001"/>
              </a:spcAft>
            </a:pPr>
            <a:r>
              <a:rPr b="0" lang="tr-TR" sz="1800" spc="-1" strike="noStrike">
                <a:solidFill>
                  <a:schemeClr val="dk1"/>
                </a:solidFill>
                <a:latin typeface="Times New Roman"/>
                <a:ea typeface="Times New Roman"/>
              </a:rPr>
              <a:t>. </a:t>
            </a:r>
            <a:r>
              <a:rPr b="0" lang="tr-TR" sz="1800" spc="-1" strike="noStrike">
                <a:solidFill>
                  <a:schemeClr val="dk1"/>
                </a:solidFill>
                <a:latin typeface="Calibri"/>
                <a:ea typeface="Times New Roman"/>
              </a:rPr>
              <a:t>ICMP Sel (Ping Flood) saldırısı esnasında denetleyicinin yüksek paket hızını (PPS) algılaması ve trafiği otonom olarak Bal Küpü (Honeypot) sunucusuna saptırma işlemi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Resim 7" descr=""/>
          <p:cNvPicPr/>
          <p:nvPr/>
        </p:nvPicPr>
        <p:blipFill>
          <a:blip r:embed="rId3"/>
          <a:stretch/>
        </p:blipFill>
        <p:spPr>
          <a:xfrm>
            <a:off x="6181200" y="1741320"/>
            <a:ext cx="5218920" cy="1750680"/>
          </a:xfrm>
          <a:prstGeom prst="rect">
            <a:avLst/>
          </a:prstGeom>
          <a:ln w="0">
            <a:noFill/>
          </a:ln>
        </p:spPr>
      </p:pic>
      <p:sp>
        <p:nvSpPr>
          <p:cNvPr id="83" name="Metin kutusu 10"/>
          <p:cNvSpPr/>
          <p:nvPr/>
        </p:nvSpPr>
        <p:spPr>
          <a:xfrm>
            <a:off x="5741640" y="3987000"/>
            <a:ext cx="6098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00000"/>
              </a:lnSpc>
              <a:spcAft>
                <a:spcPts val="1001"/>
              </a:spcAft>
            </a:pPr>
            <a:r>
              <a:rPr b="0" lang="tr-TR" sz="1800" spc="-1" strike="noStrike">
                <a:solidFill>
                  <a:schemeClr val="dk1"/>
                </a:solidFill>
                <a:latin typeface="Calibri"/>
                <a:ea typeface="Times New Roman"/>
              </a:rPr>
              <a:t>Saldırgan makinesi üzerinden arping aracı ile gerçekleştirilen ARP Zehirlenmesi (Spoofing) simülasyonu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42760" y="416520"/>
            <a:ext cx="10514880" cy="66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tr-TR" sz="3000" spc="-1" strike="noStrike">
                <a:solidFill>
                  <a:schemeClr val="dk1"/>
                </a:solidFill>
                <a:latin typeface="Calibri"/>
              </a:rPr>
              <a:t>Mühendislik Standartları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3760" y="1287360"/>
            <a:ext cx="10514880" cy="522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ISO/IEC 27001 Uyumu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Tüm güvenlik olayları değiştirilemez SQLite loglarına kaydedilir; ağ bütünlüğü denetimleriyle uyum sağlanır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Agile &amp; Git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Geliştirme Agile metodolojisiyle yönetildi; tüm kaynak kodu versiyon kontrolü altında tutuldu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Self-Cleaning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Süresi dolan akış kuralları (idle/hard timeout) otomatik temizlenir; ağda atıl kural birikmez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Rollback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Hatalı durumlarda sistem önceki kararlı duruma anında döner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Resim 4" descr=""/>
          <p:cNvPicPr/>
          <p:nvPr/>
        </p:nvPicPr>
        <p:blipFill>
          <a:blip r:embed="rId1"/>
          <a:stretch/>
        </p:blipFill>
        <p:spPr>
          <a:xfrm>
            <a:off x="-9000" y="6356520"/>
            <a:ext cx="12200400" cy="2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42760" y="416520"/>
            <a:ext cx="10514880" cy="66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tr-TR" sz="3000" spc="-1" strike="noStrike">
                <a:solidFill>
                  <a:schemeClr val="dk1"/>
                </a:solidFill>
                <a:latin typeface="Calibri"/>
              </a:rPr>
              <a:t>Elde Edilen Kazanımlar Ve Sonuç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3760" y="1323360"/>
            <a:ext cx="10514880" cy="522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Ağ ve Güvenliğin Birleşmesi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Yönlendirme ve güvenlik politikaları donanımdan bağımsız tek bir merkezi yazılımda toplandı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Sıfır Güven (Zero Trust)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İnsan müdahalesi beklenmeksizin tehditler milisaniyeler içinde tespit edilip izole edildi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Taktiksel Yanıltma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Reverse NAT ve Honeypot kombinasyonu saldırganı fark ettirmeden nötralize etti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Ölçülebilir Başarı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11 farklı saldırı senaryosunun tamamında Suricata tespiti ve Ryu müdahalesi başarıyla doğrulandı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tr-TR" sz="2400" spc="-1" strike="noStrike">
                <a:solidFill>
                  <a:schemeClr val="dk1"/>
                </a:solidFill>
                <a:latin typeface="Calibri"/>
              </a:rPr>
              <a:t>Gelecek Çalışma</a:t>
            </a:r>
            <a:r>
              <a:rPr b="0" lang="tr-TR" sz="2400" spc="-1" strike="noStrike">
                <a:solidFill>
                  <a:schemeClr val="dk1"/>
                </a:solidFill>
                <a:latin typeface="Calibri"/>
              </a:rPr>
              <a:t>: Makine öğrenmesi tabanlı anomali tespiti entegrasyonu ile imza dışı tehditlere karşı kapsam genişletilebilir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Resim 4" descr=""/>
          <p:cNvPicPr/>
          <p:nvPr/>
        </p:nvPicPr>
        <p:blipFill>
          <a:blip r:embed="rId1"/>
          <a:stretch/>
        </p:blipFill>
        <p:spPr>
          <a:xfrm>
            <a:off x="-9000" y="6356520"/>
            <a:ext cx="12200400" cy="2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2" descr="Profesyonel Yaşam Koçu Arzu Şimşek | Sorunlarınızı Burada Yanıtlıyor"/>
          <p:cNvPicPr/>
          <p:nvPr/>
        </p:nvPicPr>
        <p:blipFill>
          <a:blip r:embed="rId1"/>
          <a:stretch/>
        </p:blipFill>
        <p:spPr>
          <a:xfrm>
            <a:off x="643320" y="783000"/>
            <a:ext cx="5290920" cy="5290920"/>
          </a:xfrm>
          <a:prstGeom prst="rect">
            <a:avLst/>
          </a:prstGeom>
          <a:ln w="0">
            <a:noFill/>
          </a:ln>
        </p:spPr>
      </p:pic>
      <p:pic>
        <p:nvPicPr>
          <p:cNvPr id="91" name="Picture 4" descr="Fantezi Futbol Türkiye : Teşekkürler Faslı..."/>
          <p:cNvPicPr/>
          <p:nvPr/>
        </p:nvPicPr>
        <p:blipFill>
          <a:blip r:embed="rId2"/>
          <a:stretch/>
        </p:blipFill>
        <p:spPr>
          <a:xfrm>
            <a:off x="6256800" y="1914840"/>
            <a:ext cx="5290920" cy="3027600"/>
          </a:xfrm>
          <a:prstGeom prst="rect">
            <a:avLst/>
          </a:prstGeom>
          <a:ln w="0">
            <a:noFill/>
          </a:ln>
        </p:spPr>
      </p:pic>
      <p:sp>
        <p:nvSpPr>
          <p:cNvPr id="92" name="Metin kutusu 1"/>
          <p:cNvSpPr/>
          <p:nvPr/>
        </p:nvSpPr>
        <p:spPr>
          <a:xfrm>
            <a:off x="8285400" y="2609280"/>
            <a:ext cx="1839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tr-TR" sz="18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93" name="Grup 6"/>
          <p:cNvGrpSpPr/>
          <p:nvPr/>
        </p:nvGrpSpPr>
        <p:grpSpPr>
          <a:xfrm>
            <a:off x="0" y="6145200"/>
            <a:ext cx="12191400" cy="646920"/>
            <a:chOff x="0" y="6145200"/>
            <a:chExt cx="12191400" cy="646920"/>
          </a:xfrm>
        </p:grpSpPr>
        <p:pic>
          <p:nvPicPr>
            <p:cNvPr id="94" name="Resim 7" descr=""/>
            <p:cNvPicPr/>
            <p:nvPr/>
          </p:nvPicPr>
          <p:blipFill>
            <a:blip r:embed="rId3"/>
            <a:stretch/>
          </p:blipFill>
          <p:spPr>
            <a:xfrm>
              <a:off x="0" y="6145200"/>
              <a:ext cx="12191400" cy="182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95" name="Alt Başlık 2"/>
            <p:cNvSpPr/>
            <p:nvPr/>
          </p:nvSpPr>
          <p:spPr>
            <a:xfrm>
              <a:off x="8784000" y="6441840"/>
              <a:ext cx="3396600" cy="350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r" defTabSz="914400">
                <a:lnSpc>
                  <a:spcPct val="100000"/>
                </a:lnSpc>
                <a:spcBef>
                  <a:spcPts val="360"/>
                </a:spcBef>
              </a:pPr>
              <a:r>
                <a:rPr b="0" lang="tr-TR" sz="1800" spc="-1" strike="noStrike">
                  <a:solidFill>
                    <a:srgbClr val="898989"/>
                  </a:solidFill>
                  <a:latin typeface="Calibri"/>
                </a:rPr>
                <a:t>www.sakarya.edu.tr</a:t>
              </a: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96" name="İçerik Yer Tutucusu 10" descr=""/>
          <p:cNvPicPr/>
          <p:nvPr/>
        </p:nvPicPr>
        <p:blipFill>
          <a:blip r:embed="rId4"/>
          <a:stretch/>
        </p:blipFill>
        <p:spPr>
          <a:xfrm>
            <a:off x="0" y="6329520"/>
            <a:ext cx="2010600" cy="46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1393</TotalTime>
  <Application>LibreOffice/24.2.7.2$Linux_X86_64 LibreOffice_project/420$Build-2</Application>
  <AppVersion>15.0000</AppVersion>
  <Words>802</Words>
  <Paragraphs>64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2021-02-26T07:40:51Z</dcterms:created>
  <dc:creator>MusaBalta</dc:creator>
  <dc:description/>
  <dc:language>en-GB</dc:language>
  <cp:lastModifiedBy/>
  <dcterms:modified xsi:type="dcterms:W3CDTF">2026-06-11T14:54:18Z</dcterms:modified>
  <cp:revision>81</cp:revision>
  <dc:subject/>
  <dc:title>SGOM Temelleri, Altyapısı ve Teknolojisi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Geniş ekran</vt:lpwstr>
  </property>
  <property fmtid="{D5CDD505-2E9C-101B-9397-08002B2CF9AE}" pid="3" name="Slides">
    <vt:i4>11</vt:i4>
  </property>
</Properties>
</file>